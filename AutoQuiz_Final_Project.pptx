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A913096-7C6A-494E-9146-582B2A6C8A7C}">
  <a:tblStyle styleId="{BA913096-7C6A-494E-9146-582B2A6C8A7C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" name="Google Shape;4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" name="Google Shape;5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github.com/slay-a/autoquiz" TargetMode="External"/><Relationship Id="rId4" Type="http://schemas.openxmlformats.org/officeDocument/2006/relationships/hyperlink" Target="https://github.com/slay-a/autoquiz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github.com/slay-a/autoquiz" TargetMode="External"/><Relationship Id="rId4" Type="http://schemas.openxmlformats.org/officeDocument/2006/relationships/hyperlink" Target="https://github.com/slay-a/autoquiz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457200" y="1280160"/>
            <a:ext cx="8229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Georgia"/>
              <a:buNone/>
            </a:pPr>
            <a:r>
              <a:rPr b="1" i="0" lang="en-US" sz="7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AutoQuiz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2200"/>
              <a:buFont typeface="Calibri"/>
              <a:buNone/>
            </a:pPr>
            <a:r>
              <a:rPr b="0" i="1" lang="en-US" sz="2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AI-Powered Study Platform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457200" y="28803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Upload course material. Generate grounded quizzes and study notes. Share with students.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457200" y="41605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Final Project   ·   </a:t>
            </a: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Multi-Agent TDD Workflow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>
            <a:hlinkClick r:id="rId3"/>
          </p:cNvPr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onsolas"/>
              <a:buNone/>
            </a:pPr>
            <a:r>
              <a:rPr b="0" i="0" lang="en-US" sz="1300" u="sng" cap="none" strike="noStrike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4"/>
              </a:rPr>
              <a:t>github.com/slay-a/autoquiz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7863840" y="0"/>
            <a:ext cx="1280160" cy="5143500"/>
          </a:xfrm>
          <a:prstGeom prst="rect">
            <a:avLst/>
          </a:prstGeom>
          <a:solidFill>
            <a:srgbClr val="F96167"/>
          </a:solidFill>
          <a:ln cap="flat" cmpd="sng" w="12700">
            <a:solidFill>
              <a:srgbClr val="F961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7863840" y="2103120"/>
            <a:ext cx="12801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Georgia"/>
              <a:buNone/>
            </a:pPr>
            <a:r>
              <a:rPr b="1" i="0" lang="en-US" sz="8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AQ</a:t>
            </a:r>
            <a:endParaRPr b="0" i="0" sz="8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 txBox="1"/>
          <p:nvPr/>
        </p:nvSpPr>
        <p:spPr>
          <a:xfrm>
            <a:off x="457200" y="3566138"/>
            <a:ext cx="5676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200">
                <a:solidFill>
                  <a:schemeClr val="lt1"/>
                </a:solidFill>
              </a:rPr>
              <a:t>Justin Reyes, Shima Jabbari, Shabnam Jabbari, Srilaya Ponangi</a:t>
            </a:r>
            <a:endParaRPr i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800"/>
              <a:buFont typeface="Georgia"/>
              <a:buNone/>
            </a:pPr>
            <a:r>
              <a:rPr b="1" i="0" lang="en-US" sz="38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Purpose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Why AutoQuiz exists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457200" y="1554480"/>
            <a:ext cx="4023360" cy="3200400"/>
          </a:xfrm>
          <a:prstGeom prst="rect">
            <a:avLst/>
          </a:prstGeom>
          <a:solidFill>
            <a:srgbClr val="CADCFC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457200" y="1554480"/>
            <a:ext cx="73152" cy="320040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685800" y="1691640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The Problem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685800" y="2194560"/>
            <a:ext cx="365760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Instructors spend hours hand-crafting quizzes and review notes.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Students struggle to find study material grounded in their actual coursework.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Generic AI tools hallucinate — they aren't tied to the class material.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4663440" y="1554480"/>
            <a:ext cx="4023360" cy="320040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4663440" y="1554480"/>
            <a:ext cx="73152" cy="3200400"/>
          </a:xfrm>
          <a:prstGeom prst="rect">
            <a:avLst/>
          </a:prstGeom>
          <a:solidFill>
            <a:srgbClr val="F96167"/>
          </a:solidFill>
          <a:ln cap="flat" cmpd="sng" w="12700">
            <a:solidFill>
              <a:srgbClr val="F961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4892040" y="1691640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Our Solution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4892040" y="2194560"/>
            <a:ext cx="365760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Upload PDF / DOCX / PPTX, get quizzes grounded in that material via RAG.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Instructors share quizzes and structured notes with their classes.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Students generate personal quizzes and flashcards from any topic.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5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800"/>
              <a:buFont typeface="Georgia"/>
              <a:buNone/>
            </a:pPr>
            <a:r>
              <a:rPr b="1" i="0" lang="en-US" sz="38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What the App Does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5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Two roles, one platform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5"/>
          <p:cNvSpPr/>
          <p:nvPr/>
        </p:nvSpPr>
        <p:spPr>
          <a:xfrm>
            <a:off x="457200" y="1554480"/>
            <a:ext cx="4023360" cy="320040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5"/>
          <p:cNvSpPr/>
          <p:nvPr/>
        </p:nvSpPr>
        <p:spPr>
          <a:xfrm>
            <a:off x="457200" y="1554480"/>
            <a:ext cx="4023360" cy="50292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5"/>
          <p:cNvSpPr/>
          <p:nvPr/>
        </p:nvSpPr>
        <p:spPr>
          <a:xfrm>
            <a:off x="457200" y="1554480"/>
            <a:ext cx="4023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INSTRUCTORS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5"/>
          <p:cNvSpPr/>
          <p:nvPr/>
        </p:nvSpPr>
        <p:spPr>
          <a:xfrm>
            <a:off x="685800" y="2194560"/>
            <a:ext cx="361188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Create classes with invite codes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Upload course material per class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Generate quizzes (GPT-4o + RAG)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Share / unshare quizzes on demand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Generate structured study notes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Publish notes to students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Manage members, delete classes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5"/>
          <p:cNvSpPr/>
          <p:nvPr/>
        </p:nvSpPr>
        <p:spPr>
          <a:xfrm>
            <a:off x="4663440" y="1554480"/>
            <a:ext cx="4023360" cy="320040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F961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5"/>
          <p:cNvSpPr/>
          <p:nvPr/>
        </p:nvSpPr>
        <p:spPr>
          <a:xfrm>
            <a:off x="4663440" y="1554480"/>
            <a:ext cx="4023360" cy="502920"/>
          </a:xfrm>
          <a:prstGeom prst="rect">
            <a:avLst/>
          </a:prstGeom>
          <a:solidFill>
            <a:srgbClr val="F96167"/>
          </a:solidFill>
          <a:ln cap="flat" cmpd="sng" w="12700">
            <a:solidFill>
              <a:srgbClr val="F961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5"/>
          <p:cNvSpPr/>
          <p:nvPr/>
        </p:nvSpPr>
        <p:spPr>
          <a:xfrm>
            <a:off x="4663440" y="1554480"/>
            <a:ext cx="4023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STUDENTS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4892040" y="2194560"/>
            <a:ext cx="361188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Join classes via invite code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Take quizzes shared by instructors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Read published class notes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Generate personal quizzes from any topic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Build flashcard sets from quiz results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Upload personal files for study notes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Edit and study flashcards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6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800"/>
              <a:buFont typeface="Georgia"/>
              <a:buNone/>
            </a:pPr>
            <a:r>
              <a:rPr b="1" i="0" lang="en-US" sz="38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Architecture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6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React → FastAPI → LlamaIndex (RAG) → Supabase + OpenAI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6"/>
          <p:cNvSpPr/>
          <p:nvPr/>
        </p:nvSpPr>
        <p:spPr>
          <a:xfrm>
            <a:off x="457200" y="1554480"/>
            <a:ext cx="1627632" cy="123444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6"/>
          <p:cNvSpPr/>
          <p:nvPr/>
        </p:nvSpPr>
        <p:spPr>
          <a:xfrm>
            <a:off x="457200" y="1645920"/>
            <a:ext cx="162763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Browser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6"/>
          <p:cNvSpPr/>
          <p:nvPr/>
        </p:nvSpPr>
        <p:spPr>
          <a:xfrm>
            <a:off x="457200" y="2057400"/>
            <a:ext cx="1627632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React 18 + Vite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Tailwind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6"/>
          <p:cNvSpPr/>
          <p:nvPr/>
        </p:nvSpPr>
        <p:spPr>
          <a:xfrm>
            <a:off x="2048256" y="1874520"/>
            <a:ext cx="11887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6167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F96167"/>
                </a:solidFill>
                <a:latin typeface="Georgia"/>
                <a:ea typeface="Georgia"/>
                <a:cs typeface="Georgia"/>
                <a:sym typeface="Georgia"/>
              </a:rPr>
              <a:t>›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6"/>
          <p:cNvSpPr/>
          <p:nvPr/>
        </p:nvSpPr>
        <p:spPr>
          <a:xfrm>
            <a:off x="2130552" y="1554480"/>
            <a:ext cx="1627632" cy="123444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2130552" y="1645920"/>
            <a:ext cx="162763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API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6"/>
          <p:cNvSpPr/>
          <p:nvPr/>
        </p:nvSpPr>
        <p:spPr>
          <a:xfrm>
            <a:off x="2130552" y="2057400"/>
            <a:ext cx="1627632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FastAPI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(Python 3.11)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6"/>
          <p:cNvSpPr/>
          <p:nvPr/>
        </p:nvSpPr>
        <p:spPr>
          <a:xfrm>
            <a:off x="3721608" y="1874520"/>
            <a:ext cx="11887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6167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F96167"/>
                </a:solidFill>
                <a:latin typeface="Georgia"/>
                <a:ea typeface="Georgia"/>
                <a:cs typeface="Georgia"/>
                <a:sym typeface="Georgia"/>
              </a:rPr>
              <a:t>›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6"/>
          <p:cNvSpPr/>
          <p:nvPr/>
        </p:nvSpPr>
        <p:spPr>
          <a:xfrm>
            <a:off x="3803904" y="1554480"/>
            <a:ext cx="1627632" cy="123444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6"/>
          <p:cNvSpPr/>
          <p:nvPr/>
        </p:nvSpPr>
        <p:spPr>
          <a:xfrm>
            <a:off x="3803904" y="1645920"/>
            <a:ext cx="162763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Async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6"/>
          <p:cNvSpPr/>
          <p:nvPr/>
        </p:nvSpPr>
        <p:spPr>
          <a:xfrm>
            <a:off x="3803904" y="2057400"/>
            <a:ext cx="1627632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Celery + Redis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Ingest jobs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6"/>
          <p:cNvSpPr/>
          <p:nvPr/>
        </p:nvSpPr>
        <p:spPr>
          <a:xfrm>
            <a:off x="5394960" y="1874520"/>
            <a:ext cx="11887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6167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F96167"/>
                </a:solidFill>
                <a:latin typeface="Georgia"/>
                <a:ea typeface="Georgia"/>
                <a:cs typeface="Georgia"/>
                <a:sym typeface="Georgia"/>
              </a:rPr>
              <a:t>›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6"/>
          <p:cNvSpPr/>
          <p:nvPr/>
        </p:nvSpPr>
        <p:spPr>
          <a:xfrm>
            <a:off x="5477256" y="1554480"/>
            <a:ext cx="1627632" cy="123444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6"/>
          <p:cNvSpPr/>
          <p:nvPr/>
        </p:nvSpPr>
        <p:spPr>
          <a:xfrm>
            <a:off x="5477256" y="1645920"/>
            <a:ext cx="162763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RAG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6"/>
          <p:cNvSpPr/>
          <p:nvPr/>
        </p:nvSpPr>
        <p:spPr>
          <a:xfrm>
            <a:off x="5477256" y="2057400"/>
            <a:ext cx="1627632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LlamaIndex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parse·chunk·embed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6"/>
          <p:cNvSpPr/>
          <p:nvPr/>
        </p:nvSpPr>
        <p:spPr>
          <a:xfrm>
            <a:off x="7068312" y="1874520"/>
            <a:ext cx="11887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6167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F96167"/>
                </a:solidFill>
                <a:latin typeface="Georgia"/>
                <a:ea typeface="Georgia"/>
                <a:cs typeface="Georgia"/>
                <a:sym typeface="Georgia"/>
              </a:rPr>
              <a:t>›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6"/>
          <p:cNvSpPr/>
          <p:nvPr/>
        </p:nvSpPr>
        <p:spPr>
          <a:xfrm>
            <a:off x="7150608" y="1554480"/>
            <a:ext cx="1627632" cy="123444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6"/>
          <p:cNvSpPr/>
          <p:nvPr/>
        </p:nvSpPr>
        <p:spPr>
          <a:xfrm>
            <a:off x="7150608" y="1645920"/>
            <a:ext cx="162763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Data + AI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6"/>
          <p:cNvSpPr/>
          <p:nvPr/>
        </p:nvSpPr>
        <p:spPr>
          <a:xfrm>
            <a:off x="7150608" y="2057400"/>
            <a:ext cx="1627632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Supabase + pgvector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OpenAI GPT-4o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80" name="Google Shape;80;p6"/>
          <p:cNvGraphicFramePr/>
          <p:nvPr/>
        </p:nvGraphicFramePr>
        <p:xfrm>
          <a:off x="457200" y="30175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{BA913096-7C6A-494E-9146-582B2A6C8A7C}</a:tableStyleId>
              </a:tblPr>
              <a:tblGrid>
                <a:gridCol w="1828800"/>
                <a:gridCol w="6400800"/>
              </a:tblGrid>
              <a:tr h="246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Layer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Technology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</a:tr>
              <a:tr h="246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Frontend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React 18 · Vite · Tailwind · React Router v6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6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Backend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FastAPI · Python 3.11+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6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Auth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Supabase Auth (JWT, role-based)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6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Database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Supabase Postgres + pgvector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6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RAG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LlamaIndex (parse → chunk → embed → hybrid)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6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LLM / Embed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OpenAI GPT-4o · text-embedding-3-small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6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Async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Celery + Redis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7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600"/>
              <a:buFont typeface="Georgia"/>
              <a:buNone/>
            </a:pPr>
            <a:r>
              <a:rPr b="1" i="0" lang="en-US" sz="36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Multi-Agent TDD Workflow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7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Each feature passes through four collaborating agents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7"/>
          <p:cNvSpPr/>
          <p:nvPr/>
        </p:nvSpPr>
        <p:spPr>
          <a:xfrm>
            <a:off x="457200" y="1508760"/>
            <a:ext cx="2011680" cy="32461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7"/>
          <p:cNvSpPr/>
          <p:nvPr/>
        </p:nvSpPr>
        <p:spPr>
          <a:xfrm>
            <a:off x="457200" y="1508760"/>
            <a:ext cx="2011680" cy="109728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7"/>
          <p:cNvSpPr/>
          <p:nvPr/>
        </p:nvSpPr>
        <p:spPr>
          <a:xfrm>
            <a:off x="685800" y="1828800"/>
            <a:ext cx="502920" cy="502920"/>
          </a:xfrm>
          <a:prstGeom prst="ellipse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7"/>
          <p:cNvSpPr/>
          <p:nvPr/>
        </p:nvSpPr>
        <p:spPr>
          <a:xfrm>
            <a:off x="685800" y="182880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7"/>
          <p:cNvSpPr/>
          <p:nvPr/>
        </p:nvSpPr>
        <p:spPr>
          <a:xfrm>
            <a:off x="640080" y="246888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700"/>
              <a:buFont typeface="Georgia"/>
              <a:buNone/>
            </a:pPr>
            <a:r>
              <a:rPr b="1" i="0" lang="en-US" sz="17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Test Creation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7"/>
          <p:cNvSpPr/>
          <p:nvPr/>
        </p:nvSpPr>
        <p:spPr>
          <a:xfrm>
            <a:off x="640080" y="2971800"/>
            <a:ext cx="1645920" cy="1691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Writes failing tests from the feature spec (Red phase). pytest + Vitest suites grow alongside features.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7"/>
          <p:cNvSpPr/>
          <p:nvPr/>
        </p:nvSpPr>
        <p:spPr>
          <a:xfrm>
            <a:off x="2587752" y="1508760"/>
            <a:ext cx="2011680" cy="32461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7"/>
          <p:cNvSpPr/>
          <p:nvPr/>
        </p:nvSpPr>
        <p:spPr>
          <a:xfrm>
            <a:off x="2587752" y="1508760"/>
            <a:ext cx="2011680" cy="109728"/>
          </a:xfrm>
          <a:prstGeom prst="rect">
            <a:avLst/>
          </a:prstGeom>
          <a:solidFill>
            <a:srgbClr val="F96167"/>
          </a:solidFill>
          <a:ln cap="flat" cmpd="sng" w="12700">
            <a:solidFill>
              <a:srgbClr val="F961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7"/>
          <p:cNvSpPr/>
          <p:nvPr/>
        </p:nvSpPr>
        <p:spPr>
          <a:xfrm>
            <a:off x="2816352" y="1828800"/>
            <a:ext cx="502920" cy="502920"/>
          </a:xfrm>
          <a:prstGeom prst="ellipse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7"/>
          <p:cNvSpPr/>
          <p:nvPr/>
        </p:nvSpPr>
        <p:spPr>
          <a:xfrm>
            <a:off x="2816352" y="182880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7"/>
          <p:cNvSpPr/>
          <p:nvPr/>
        </p:nvSpPr>
        <p:spPr>
          <a:xfrm>
            <a:off x="2770632" y="246888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700"/>
              <a:buFont typeface="Georgia"/>
              <a:buNone/>
            </a:pPr>
            <a:r>
              <a:rPr b="1" i="0" lang="en-US" sz="17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Code Developer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7"/>
          <p:cNvSpPr/>
          <p:nvPr/>
        </p:nvSpPr>
        <p:spPr>
          <a:xfrm>
            <a:off x="2770632" y="2971800"/>
            <a:ext cx="1645920" cy="1691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Implements backend routes, services, frontend components and Supabase schema until tests pass (Green).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7"/>
          <p:cNvSpPr/>
          <p:nvPr/>
        </p:nvSpPr>
        <p:spPr>
          <a:xfrm>
            <a:off x="4718304" y="1508760"/>
            <a:ext cx="2011680" cy="32461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7"/>
          <p:cNvSpPr/>
          <p:nvPr/>
        </p:nvSpPr>
        <p:spPr>
          <a:xfrm>
            <a:off x="4718304" y="1508760"/>
            <a:ext cx="2011680" cy="109728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7"/>
          <p:cNvSpPr/>
          <p:nvPr/>
        </p:nvSpPr>
        <p:spPr>
          <a:xfrm>
            <a:off x="4946904" y="1828800"/>
            <a:ext cx="502920" cy="502920"/>
          </a:xfrm>
          <a:prstGeom prst="ellipse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7"/>
          <p:cNvSpPr/>
          <p:nvPr/>
        </p:nvSpPr>
        <p:spPr>
          <a:xfrm>
            <a:off x="4946904" y="182880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7"/>
          <p:cNvSpPr/>
          <p:nvPr/>
        </p:nvSpPr>
        <p:spPr>
          <a:xfrm>
            <a:off x="4901184" y="246888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700"/>
              <a:buFont typeface="Georgia"/>
              <a:buNone/>
            </a:pPr>
            <a:r>
              <a:rPr b="1" i="0" lang="en-US" sz="17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Architecture Review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7"/>
          <p:cNvSpPr/>
          <p:nvPr/>
        </p:nvSpPr>
        <p:spPr>
          <a:xfrm>
            <a:off x="4901184" y="2971800"/>
            <a:ext cx="1645920" cy="1691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Validates each change against docs/DESIGN.md — layer boundaries, error envelopes, event catalog, RLS.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7"/>
          <p:cNvSpPr/>
          <p:nvPr/>
        </p:nvSpPr>
        <p:spPr>
          <a:xfrm>
            <a:off x="6848856" y="1508760"/>
            <a:ext cx="2011680" cy="32461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7"/>
          <p:cNvSpPr/>
          <p:nvPr/>
        </p:nvSpPr>
        <p:spPr>
          <a:xfrm>
            <a:off x="6848856" y="1508760"/>
            <a:ext cx="2011680" cy="109728"/>
          </a:xfrm>
          <a:prstGeom prst="rect">
            <a:avLst/>
          </a:prstGeom>
          <a:solidFill>
            <a:srgbClr val="F96167"/>
          </a:solidFill>
          <a:ln cap="flat" cmpd="sng" w="12700">
            <a:solidFill>
              <a:srgbClr val="F961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7"/>
          <p:cNvSpPr/>
          <p:nvPr/>
        </p:nvSpPr>
        <p:spPr>
          <a:xfrm>
            <a:off x="7077456" y="1828800"/>
            <a:ext cx="502920" cy="502920"/>
          </a:xfrm>
          <a:prstGeom prst="ellipse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7"/>
          <p:cNvSpPr/>
          <p:nvPr/>
        </p:nvSpPr>
        <p:spPr>
          <a:xfrm>
            <a:off x="7077456" y="182880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4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7"/>
          <p:cNvSpPr/>
          <p:nvPr/>
        </p:nvSpPr>
        <p:spPr>
          <a:xfrm>
            <a:off x="7031736" y="246888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700"/>
              <a:buFont typeface="Georgia"/>
              <a:buNone/>
            </a:pPr>
            <a:r>
              <a:rPr b="1" i="0" lang="en-US" sz="17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DevOps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7"/>
          <p:cNvSpPr/>
          <p:nvPr/>
        </p:nvSpPr>
        <p:spPr>
          <a:xfrm>
            <a:off x="7031736" y="2971800"/>
            <a:ext cx="1645920" cy="1691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CI gating, env hygiene, structured logging, rate-limiting, schema migrations, dev-orchestrator scripts.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8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600"/>
              <a:buFont typeface="Georgia"/>
              <a:buNone/>
            </a:pPr>
            <a:r>
              <a:rPr b="1" i="0" lang="en-US" sz="35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Individual Contributions</a:t>
            </a:r>
            <a:endParaRPr b="0" i="0" sz="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18" name="Google Shape;118;p8"/>
          <p:cNvGraphicFramePr/>
          <p:nvPr/>
        </p:nvGraphicFramePr>
        <p:xfrm>
          <a:off x="365772" y="100584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{BA913096-7C6A-494E-9146-582B2A6C8A7C}</a:tableStyleId>
              </a:tblPr>
              <a:tblGrid>
                <a:gridCol w="1554475"/>
                <a:gridCol w="1280150"/>
                <a:gridCol w="5577850"/>
              </a:tblGrid>
              <a:tr h="416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Contributor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GitHub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Modules / Scope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</a:tr>
              <a:tr h="772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Srilaya Ponangi (Laya)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96167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F9616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@slay-a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Project scaffold and full-stack skeleton; docs/DESIGN.md authoring and revisions (architecture, error handling, event catalog, schema); multi-agent pipeline + .claude/agents/* setup; FEAT-001 auth pipeline run; TopBar profile entry point and light-mode UI fixes; backend config hardening (Pydantic v2); repo hygiene (.gitignore, env examples, router future flags).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67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Justin Reyes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96167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F9616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@justinreyes145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FEAT-004 LlamaIndex ingestion (parse → clean → chunk → embed); FEAT-005 file upload + storage; FEAT-006 quiz generation (GPT-4o + RAG); FEAT-007 quiz study &amp; saving (with Shima); FEAT-008 quiz sharing; FEAT-009 student notes; FEAT-010 instructor notes (with Shima); FEAT-011 flashcard study; FEAT-013 user-story drafting; test-suite stabilisation.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60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Shima Jabbari</a:t>
                      </a:r>
                      <a:endParaRPr b="1" sz="1000" u="none" cap="none" strike="noStrike">
                        <a:solidFill>
                          <a:srgbClr val="1E276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050"/>
                        <a:buFont typeface="Calibri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96167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F9616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@ShimaJabbari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96167"/>
                        </a:buClr>
                        <a:buSzPts val="1050"/>
                        <a:buFont typeface="Calibri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Led the architecture cleanup and quality pass. Closed FEAT-003 student-membership blockers, then remediated FEAT-009 through FEAT-013 (layer violations, test mocks, dark mode, schema/event-catalog patches). Followed with an issue sweep (020–041): enforced error envelopes, replaced unsafe jwt.decode with GoTrue verification, migrated flashcards to FastAPI, fixed FEAT-006 role guard, closed FEAT-014 event gaps, scored short_answer questions in QuizView, and repaired test scaffolding across FEAT-002/005/008/010.</a:t>
                      </a:r>
                      <a:endParaRPr sz="1000">
                        <a:solidFill>
                          <a:srgbClr val="0F172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60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00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Shabnam Jabbari</a:t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000">
                        <a:solidFill>
                          <a:srgbClr val="1E276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96167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00">
                          <a:solidFill>
                            <a:srgbClr val="F9616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@Shabnamjabbari</a:t>
                      </a:r>
                      <a:endParaRPr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F96167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Built the foundational class and ingestion features. Delivered FEAT-002 instructor flow (12 FastAPI class routes, ClassView migration off Supabase) and FEAT-003 student error handling (CLASS_NOT_FOUND registry, standard envelopes, Dashboard error state). Owned FEAT-004 LlamaIndex ingestion with upload helpers, red tests, and a Celery worker. Closed pipeline-review blockers for FEAT-005/006/007/008 and added quiz-count stats and event logging.</a:t>
                      </a:r>
                      <a:endParaRPr sz="1000" u="none" cap="none" strike="noStrike">
                        <a:solidFill>
                          <a:srgbClr val="0F172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9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Georgia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Live Demo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9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Walkthrough — instructor uploads, generates a shared quiz; student joins class and studies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9"/>
          <p:cNvSpPr/>
          <p:nvPr/>
        </p:nvSpPr>
        <p:spPr>
          <a:xfrm>
            <a:off x="1371600" y="1554480"/>
            <a:ext cx="6400800" cy="3108960"/>
          </a:xfrm>
          <a:prstGeom prst="rect">
            <a:avLst/>
          </a:prstGeom>
          <a:solidFill>
            <a:srgbClr val="FFFFFF">
              <a:alpha val="10196"/>
            </a:srgbClr>
          </a:solidFill>
          <a:ln cap="flat" cmpd="sng" w="25400">
            <a:solidFill>
              <a:srgbClr val="CADCF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9"/>
          <p:cNvSpPr/>
          <p:nvPr/>
        </p:nvSpPr>
        <p:spPr>
          <a:xfrm rot="1800000">
            <a:off x="4251960" y="2743200"/>
            <a:ext cx="731520" cy="731520"/>
          </a:xfrm>
          <a:prstGeom prst="rtTriangle">
            <a:avLst/>
          </a:prstGeom>
          <a:solidFill>
            <a:srgbClr val="F96167"/>
          </a:solidFill>
          <a:ln cap="flat" cmpd="sng" w="12700">
            <a:solidFill>
              <a:srgbClr val="F961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9"/>
          <p:cNvSpPr/>
          <p:nvPr/>
        </p:nvSpPr>
        <p:spPr>
          <a:xfrm>
            <a:off x="1371600" y="361188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 Embed demo video here ]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9"/>
          <p:cNvSpPr/>
          <p:nvPr/>
        </p:nvSpPr>
        <p:spPr>
          <a:xfrm>
            <a:off x="1371600" y="406908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PowerPoint → Insert → Video → This Device, then resize to fit this frame.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600"/>
              <a:buFont typeface="Georgia"/>
              <a:buNone/>
            </a:pPr>
            <a:r>
              <a:rPr b="1" i="0" lang="en-US" sz="36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Repository &amp; Submission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0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Where to find every deliverable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0"/>
          <p:cNvSpPr/>
          <p:nvPr/>
        </p:nvSpPr>
        <p:spPr>
          <a:xfrm>
            <a:off x="457200" y="1508760"/>
            <a:ext cx="8229600" cy="91440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0"/>
          <p:cNvSpPr/>
          <p:nvPr/>
        </p:nvSpPr>
        <p:spPr>
          <a:xfrm>
            <a:off x="640080" y="1600200"/>
            <a:ext cx="7863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GitHub Repository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0">
            <a:hlinkClick r:id="rId3"/>
          </p:cNvPr>
          <p:cNvSpPr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onsolas"/>
              <a:buNone/>
            </a:pPr>
            <a:r>
              <a:rPr b="1" i="0" lang="en-US" sz="2600" u="sng" cap="none" strike="noStrike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4"/>
              </a:rPr>
              <a:t>github.com/slay-a/autoquiz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0" name="Google Shape;140;p10"/>
          <p:cNvGraphicFramePr/>
          <p:nvPr/>
        </p:nvGraphicFramePr>
        <p:xfrm>
          <a:off x="457200" y="26060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{BA913096-7C6A-494E-9146-582B2A6C8A7C}</a:tableStyleId>
              </a:tblPr>
              <a:tblGrid>
                <a:gridCol w="3840475"/>
                <a:gridCol w="4389125"/>
              </a:tblGrid>
              <a:tr h="256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Deliverable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Location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</a:tr>
              <a:tr h="256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This presentation (PPTX)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Canvas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6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Architectural document (DESIGN.md)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Google Sheets · docs/DESIGN.md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6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User stories + acceptance criteria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specs/IMPLEMENTED_USER_STORIES.md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6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Test case index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docs/TESTCASES.md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6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Backend tests (pytest, 270+)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backend/tests/ — CI gated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6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Frontend tests (Vitest, 290+)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frontend/src/__tests__/ — CI gated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6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Multi-agent TDD config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.claude/agents/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